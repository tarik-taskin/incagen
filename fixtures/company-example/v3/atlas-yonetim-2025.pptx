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9059a0c8064e3f" /><Relationship Type="http://schemas.openxmlformats.org/officeDocument/2006/relationships/extended-properties" Target="/docProps/app.xml" Id="R4762aedc340c4756" /><Relationship Type="http://schemas.openxmlformats.org/officeDocument/2006/relationships/officeDocument" Target="/ppt/presentation.xml" Id="R6b5194284a4040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f70a5aec5b4da9"/>
  </p:sldMasterIdLst>
  <p:notesMasterIdLst>
    <p:notesMasterId xmlns:r="http://schemas.openxmlformats.org/officeDocument/2006/relationships" r:id="R4902033d30c74caa"/>
  </p:notesMasterIdLst>
  <p:sldIdLst>
    <p:sldId xmlns:r="http://schemas.openxmlformats.org/officeDocument/2006/relationships" id="256" r:id="R7d399106e3df4e05"/>
    <p:sldId xmlns:r="http://schemas.openxmlformats.org/officeDocument/2006/relationships" id="257" r:id="R697ee63f6e264143"/>
    <p:sldId xmlns:r="http://schemas.openxmlformats.org/officeDocument/2006/relationships" id="258" r:id="R4055f2a9202244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03b7c152e34e65" /><Relationship Type="http://schemas.openxmlformats.org/officeDocument/2006/relationships/slideMaster" Target="/ppt/slideMasters/slideMaster1.xml" Id="R3bf70a5aec5b4da9" /><Relationship Type="http://schemas.openxmlformats.org/officeDocument/2006/relationships/notesMaster" Target="/ppt/notesMasters/notesMaster1.xml" Id="R4902033d30c74caa" /><Relationship Type="http://schemas.openxmlformats.org/officeDocument/2006/relationships/presProps" Target="/ppt/presProps.xml" Id="Re3bc6be4011e4642" /><Relationship Type="http://schemas.openxmlformats.org/officeDocument/2006/relationships/tableStyles" Target="/ppt/tableStyles.xml" Id="Rfd165305ee414a32" /><Relationship Type="http://schemas.openxmlformats.org/officeDocument/2006/relationships/slide" Target="/ppt/slides/slide1.xml" Id="R7d399106e3df4e05" /><Relationship Type="http://schemas.openxmlformats.org/officeDocument/2006/relationships/slide" Target="/ppt/slides/slide2.xml" Id="R697ee63f6e264143" /><Relationship Type="http://schemas.openxmlformats.org/officeDocument/2006/relationships/slide" Target="/ppt/slides/slide3.xml" Id="R4055f2a9202244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6c0a8a9c884c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4c53a877514a17" /><Relationship Type="http://schemas.openxmlformats.org/officeDocument/2006/relationships/notesMaster" Target="/ppt/notesMasters/notesMaster1.xml" Id="R771f524a77424e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636f265c854c73" /><Relationship Type="http://schemas.openxmlformats.org/officeDocument/2006/relationships/notesMaster" Target="/ppt/notesMasters/notesMaster1.xml" Id="R9d3d62c45b4247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728e2c07df49fe" /><Relationship Type="http://schemas.openxmlformats.org/officeDocument/2006/relationships/notesMaster" Target="/ppt/notesMasters/notesMaster1.xml" Id="R015f9c3c74ff4f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31b207d0764cf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b6fe47845642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ae6b3f5274a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e250ea366344d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541660ef17439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d5d05c269945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E9B4A1-00C1-4412-B321-8685B5FE6D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81D92C6-4507-4DFC-B942-7853951272C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454AC07-D43D-45AD-8EF8-DEDF964049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D5188A-6FED-4835-8139-BDDD86E1D8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BD928E9-9ABE-4896-8944-97ACA8ABD6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7B8B8FE-6F5A-4AC8-B77F-21EF7C358C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4AB6AF-1F52-4EBE-A401-1D01373DBF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32EB0C7-7760-4752-A0D9-6900B6E4696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31F7EE-1AC4-4C57-91E3-794365D043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7A49BE-35CF-4D45-B0C7-961C8BD7D4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d9a259d00543a3" /><Relationship Type="http://schemas.openxmlformats.org/officeDocument/2006/relationships/slideLayout" Target="/ppt/slideLayouts/slideLayout1.xml" Id="Rd1ec4eca91cd4383" /><Relationship Type="http://schemas.openxmlformats.org/officeDocument/2006/relationships/slideLayout" Target="/ppt/slideLayouts/slideLayout2.xml" Id="Rcb225153d97c48e9" /><Relationship Type="http://schemas.openxmlformats.org/officeDocument/2006/relationships/slideLayout" Target="/ppt/slideLayouts/slideLayout3.xml" Id="Rf96062ec1945486a" /><Relationship Type="http://schemas.openxmlformats.org/officeDocument/2006/relationships/slideLayout" Target="/ppt/slideLayouts/slideLayout4.xml" Id="Recdf1743c0724cc4" /><Relationship Type="http://schemas.openxmlformats.org/officeDocument/2006/relationships/slideLayout" Target="/ppt/slideLayouts/slideLayout5.xml" Id="Rfc7729b100764b85" /><Relationship Type="http://schemas.openxmlformats.org/officeDocument/2006/relationships/slideLayout" Target="/ppt/slideLayouts/slideLayout6.xml" Id="R599ae8f270be42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ec4eca91cd4383"/>
    <p:sldLayoutId xmlns:r="http://schemas.openxmlformats.org/officeDocument/2006/relationships" id="2147483650" r:id="Rcb225153d97c48e9"/>
    <p:sldLayoutId xmlns:r="http://schemas.openxmlformats.org/officeDocument/2006/relationships" id="2147483651" r:id="Rf96062ec1945486a"/>
    <p:sldLayoutId xmlns:r="http://schemas.openxmlformats.org/officeDocument/2006/relationships" id="2147483652" r:id="Recdf1743c0724cc4"/>
    <p:sldLayoutId xmlns:r="http://schemas.openxmlformats.org/officeDocument/2006/relationships" id="2147483653" r:id="Rfc7729b100764b85"/>
    <p:sldLayoutId xmlns:r="http://schemas.openxmlformats.org/officeDocument/2006/relationships" id="2147483654" r:id="R599ae8f270be42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126770fe0343d0" /><Relationship Type="http://schemas.openxmlformats.org/officeDocument/2006/relationships/notesSlide" Target="/ppt/notesSlides/notesSlide1.xml" Id="R2efdfc10be2f4a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8b400a72e0428a" /><Relationship Type="http://schemas.openxmlformats.org/officeDocument/2006/relationships/notesSlide" Target="/ppt/notesSlides/notesSlide2.xml" Id="Rb3c7aa92e4914e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ffe355d4c4b95" /><Relationship Type="http://schemas.openxmlformats.org/officeDocument/2006/relationships/notesSlide" Target="/ppt/notesSlides/notesSlide3.xml" Id="R9d329cfb993c4d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2D38B-0923-4458-ADF8-E69BA58E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rPr>
              <a:t>ATLAS TEKNOLOJİ / 2025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2C9EB-5BCB-4AA9-8BDC-2E483ED2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rPr>
              <a:t>2025 hizmet performansı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F6C86-180F-46AF-AF4F-B4568C9A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rPr>
              <a:t>Yönetim değerlendirmesi · 1 Ocak–31 Aralık 2025 · TRY, KDV hariç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A2269-2162-4D1E-8676-0825C843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60429B"/>
                </a:solidFill>
                <a:latin typeface="DejaVu Sans"/>
                <a:ea typeface="DejaVu Sans"/>
                <a:cs typeface="DejaVu Sans"/>
              </a:rPr>
              <a:t>3.434.937.368,1 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B0D32-FAA4-4118-9C7C-7FE8730C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51B38"/>
                </a:solidFill>
                <a:latin typeface="DejaVu Sans"/>
                <a:ea typeface="DejaVu Sans"/>
                <a:cs typeface="DejaVu Sans"/>
              </a:rPr>
              <a:t>Net satış  /  Bütçe gerçekleşmesi %102,83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EF968-37B4-473D-B9D1-06B7967C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51B38"/>
                </a:solidFill>
                <a:latin typeface="DejaVu Sans"/>
                <a:ea typeface="DejaVu Sans"/>
                <a:cs typeface="DejaVu Sans"/>
              </a:rPr>
              <a:t>Brüt marj %41,82  ·  Zamanında tamamlanma %94,11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7BC31-E324-423B-9949-95D1092A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6C647D"/>
                </a:solidFill>
                <a:latin typeface="DejaVu Sans"/>
                <a:ea typeface="DejaVu Sans"/>
                <a:cs typeface="DejaVu Sans"/>
              </a:rPr>
              <a:t>279.257 tamamlanan hizmet işi. Tekil müşteri veya sözleşme sayısı değildir.</a:t>
            </a:r>
          </a:p>
        </p:txBody>
      </p:sp>
    </p:spTree>
    <p:extLst>
      <p:ext uri="{BB962C8B-B14F-4D97-AF65-F5344CB8AC3E}">
        <p14:creationId xmlns:p14="http://schemas.microsoft.com/office/powerpoint/2010/main" val="14859065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A29F3-E4D3-4B03-A296-1DD6379A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rPr>
              <a:t>ATLAS TEKNOLOJİ / 2025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DD00B-43D8-498B-93E6-31755F0F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rPr>
              <a:t>Hizmet portföyünün gelir dağılımı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FCDB6-CBBA-4D50-99BA-8C6EA689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rPr>
              <a:t>Aynı dönemin sekiz hizmet alanı · Net satış, milyon TL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8700A-41BA-4CAB-B1DD-D2D58114D4CF}"/>
              </a:ext>
            </a:extLst>
          </p:cNvPr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3429000"/>
                <a:gridCol w="2476500"/>
              </a:tblGrid>
              <a:tr h="370417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Hizmet alanı</a:t>
                      </a:r>
                    </a:p>
                  </a:txBody>
                  <a:tcPr marL="91440" marR="91440" marT="45720" marB="45720">
                    <a:solidFill>
                      <a:srgbClr val="60429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Net satış · milyon TL</a:t>
                      </a:r>
                    </a:p>
                  </a:txBody>
                  <a:tcPr marL="91440" marR="91440" marT="45720" marB="45720">
                    <a:solidFill>
                      <a:srgbClr val="60429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Gelir payı</a:t>
                      </a:r>
                    </a:p>
                  </a:txBody>
                  <a:tcPr marL="91440" marR="91440" marT="45720" marB="45720">
                    <a:solidFill>
                      <a:srgbClr val="60429B"/>
                    </a:solidFill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1B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Bulut hizmetleri</a:t>
                      </a:r>
                    </a:p>
                  </a:txBody>
                  <a:tcPr marL="91440" marR="91440" marT="45720" marB="45720">
                    <a:solidFill>
                      <a:srgbClr val="F1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1B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999,17</a:t>
                      </a:r>
                    </a:p>
                  </a:txBody>
                  <a:tcPr marL="91440" marR="91440" marT="45720" marB="45720">
                    <a:solidFill>
                      <a:srgbClr val="F1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1B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%29,09</a:t>
                      </a:r>
                    </a:p>
                  </a:txBody>
                  <a:tcPr marL="91440" marR="91440" marT="45720" marB="45720">
                    <a:solidFill>
                      <a:srgbClr val="F1EEF7"/>
                    </a:solidFill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1B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Yönetilen hizmetler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1B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651,65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1B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%18,97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1B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Kurumsal yazılım</a:t>
                      </a:r>
                    </a:p>
                  </a:txBody>
                  <a:tcPr marL="91440" marR="91440" marT="45720" marB="45720">
                    <a:solidFill>
                      <a:srgbClr val="F1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1B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538,8</a:t>
                      </a:r>
                    </a:p>
                  </a:txBody>
                  <a:tcPr marL="91440" marR="91440" marT="45720" marB="45720">
                    <a:solidFill>
                      <a:srgbClr val="F1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1B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%15,69</a:t>
                      </a:r>
                    </a:p>
                  </a:txBody>
                  <a:tcPr marL="91440" marR="91440" marT="45720" marB="45720">
                    <a:solidFill>
                      <a:srgbClr val="F1EEF7"/>
                    </a:solidFill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1B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Sistem entegrasyonu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1B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372,37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1B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%10,84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1B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Veri analitiği</a:t>
                      </a:r>
                    </a:p>
                  </a:txBody>
                  <a:tcPr marL="91440" marR="91440" marT="45720" marB="45720">
                    <a:solidFill>
                      <a:srgbClr val="F1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1B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280,39</a:t>
                      </a:r>
                    </a:p>
                  </a:txBody>
                  <a:tcPr marL="91440" marR="91440" marT="45720" marB="45720">
                    <a:solidFill>
                      <a:srgbClr val="F1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1B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%8,16</a:t>
                      </a:r>
                    </a:p>
                  </a:txBody>
                  <a:tcPr marL="91440" marR="91440" marT="45720" marB="45720">
                    <a:solidFill>
                      <a:srgbClr val="F1EEF7"/>
                    </a:solidFill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1B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Siber güvenlik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1B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246,36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1B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%7,17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1B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Teknik danışmanlık</a:t>
                      </a:r>
                    </a:p>
                  </a:txBody>
                  <a:tcPr marL="91440" marR="91440" marT="45720" marB="45720">
                    <a:solidFill>
                      <a:srgbClr val="F1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1B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213,07</a:t>
                      </a:r>
                    </a:p>
                  </a:txBody>
                  <a:tcPr marL="91440" marR="91440" marT="45720" marB="45720">
                    <a:solidFill>
                      <a:srgbClr val="F1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1B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%6,2</a:t>
                      </a:r>
                    </a:p>
                  </a:txBody>
                  <a:tcPr marL="91440" marR="91440" marT="45720" marB="45720">
                    <a:solidFill>
                      <a:srgbClr val="F1EEF7"/>
                    </a:solidFill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1B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Eğitim hizmetleri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1B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133,12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1B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%3,88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6166D-1F79-401B-85EB-1904585E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C647D"/>
                </a:solidFill>
                <a:latin typeface="DejaVu Sans"/>
                <a:ea typeface="DejaVu Sans"/>
                <a:cs typeface="DejaVu Sans"/>
              </a:rPr>
              <a:t>Kaynak: atlas-satis-2025.csv · Aylık kırılım toplamları, aynı kapsamın farklı görünümleri toplanmaz.</a:t>
            </a:r>
          </a:p>
        </p:txBody>
      </p:sp>
    </p:spTree>
    <p:extLst>
      <p:ext uri="{BB962C8B-B14F-4D97-AF65-F5344CB8AC3E}">
        <p14:creationId xmlns:p14="http://schemas.microsoft.com/office/powerpoint/2010/main" val="12512280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D4C9A-9D8E-4545-B982-FCFF2F87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60429B"/>
                </a:solidFill>
                <a:latin typeface="DejaVu Sans"/>
                <a:ea typeface="DejaVu Sans"/>
                <a:cs typeface="DejaVu Sans"/>
              </a:rPr>
              <a:t>ATLAS TEKNOLOJİ / 2025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5214B-205F-486A-9112-B2C95182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51B38"/>
                </a:solidFill>
                <a:latin typeface="DejaVu Sans"/>
                <a:ea typeface="DejaVu Sans"/>
                <a:cs typeface="DejaVu Sans"/>
              </a:rPr>
              <a:t>Karar ve takip öncelikleri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01109-E935-4C66-997F-72488191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C647D"/>
                </a:solidFill>
                <a:latin typeface="DejaVu Sans"/>
                <a:ea typeface="DejaVu Sans"/>
                <a:cs typeface="DejaVu Sans"/>
              </a:rPr>
              <a:t>Gelir büyüklüğü, marj ve hizmet kapasitesi birlikte değerlendirilir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C5FC1-59B2-4818-8C6A-7AA6D368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51B38"/>
                </a:solidFill>
                <a:latin typeface="DejaVu Sans"/>
                <a:ea typeface="DejaVu Sans"/>
                <a:cs typeface="DejaVu Sans"/>
              </a:rPr>
              <a:t>01  Kanal ekonomisi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0FA12-1F45-4292-A34D-8465F6CF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51B38"/>
                </a:solidFill>
                <a:latin typeface="DejaVu Sans"/>
                <a:ea typeface="DejaVu Sans"/>
                <a:cs typeface="DejaVu Sans"/>
              </a:rPr>
              <a:t>Doğrudan satış, iş ortakları ve dijital kanalı hizmet işi başına katkıyla karşılaştırın.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58325-A53C-4256-A1A9-810D321F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51B38"/>
                </a:solidFill>
                <a:latin typeface="DejaVu Sans"/>
                <a:ea typeface="DejaVu Sans"/>
                <a:cs typeface="DejaVu Sans"/>
              </a:rPr>
              <a:t>02  Hizmet kapasitesi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2BF73-5CEA-43D4-8414-FA91AECD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51B3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51B38"/>
                </a:solidFill>
                <a:latin typeface="DejaVu Sans"/>
                <a:ea typeface="DejaVu Sans"/>
                <a:cs typeface="DejaVu Sans"/>
              </a:rPr>
              <a:t>Ekip kapasitesi ve gecikme nedenlerini tamamlayın. Sözleşme yenileme ve müşteri kaybı bu pakette ölçülmez.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B1DD1-8F22-4AA7-9C1A-94EE5732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C647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C647D"/>
                </a:solidFill>
                <a:latin typeface="DejaVu Sans"/>
                <a:ea typeface="DejaVu Sans"/>
                <a:cs typeface="DejaVu Sans"/>
              </a:rPr>
              <a:t>Kaynak: atlas-performans-2025.pdf, s.7 · atlas-ticari-degerlendirme-2025.docx</a:t>
            </a:r>
          </a:p>
        </p:txBody>
      </p:sp>
    </p:spTree>
    <p:extLst>
      <p:ext uri="{BB962C8B-B14F-4D97-AF65-F5344CB8AC3E}">
        <p14:creationId xmlns:p14="http://schemas.microsoft.com/office/powerpoint/2010/main" val="17612600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2025-12-31T12:00:00Z</dcterms:created>
  <dcterms:modified xsi:type="dcterms:W3CDTF">2025-12-31T12:00:00Z</dcterms:modified>
</coreProperties>
</file>